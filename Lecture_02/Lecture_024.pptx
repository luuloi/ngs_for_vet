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53.xml" ContentType="application/vnd.openxmlformats-officedocument.presentationml.slide+xml"/>
  <Override PartName="/ppt/slides/slide24.xml" ContentType="application/vnd.openxmlformats-officedocument.presentationml.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EEBB20-3314-4902-8304-B6DF6E9E03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hyperlink" Target="https://www.ncbi.nlm.nih.gov/datasets/genome/GCF_000003025.6/" TargetMode="External"/><Relationship Id="rId2" Type="http://schemas.openxmlformats.org/officeDocument/2006/relationships/slide" Target="../slides/slide36.xml"/><Relationship Id="rId3" Type="http://schemas.openxmlformats.org/officeDocument/2006/relationships/notesMaster" Target="../notesMasters/notesMaster1.xml"/>
</Relationship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11040" algn="l">
              <a:lnSpc>
                <a:spcPct val="100000"/>
              </a:lnSpc>
              <a:buClr>
                <a:srgbClr val="595959"/>
              </a:buClr>
              <a:buFont typeface="OpenSymbol"/>
              <a:buChar char="-"/>
            </a:pPr>
            <a:r>
              <a:rPr lang="en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pig ref: GCF_000003025.6</a:t>
            </a:r>
            <a:r>
              <a:rPr lang="en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	</a:t>
            </a:r>
            <a:r>
              <a:rPr lang="en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  Sscrofa11.1</a:t>
            </a:r>
            <a:r>
              <a:rPr lang="en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	</a:t>
            </a:r>
            <a:r>
              <a:rPr lang="en" sz="1300" b="0" u="sng" strike="noStrike">
                <a:solidFill>
                  <a:srgbClr val="0097A7"/>
                </a:solidFill>
                <a:effectLst/>
                <a:uFillTx/>
                <a:latin typeface="Arial"/>
                <a:hlinkClick r:id="rId1"/>
              </a:rPr>
              <a:t>https://www.ncbi.nlm.nih.gov/datasets/genome/GCF_000003025.6/</a:t>
            </a:r>
            <a:r>
              <a:rPr lang="en" sz="13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D7B46B-74D0-434B-85D9-63386F81DA7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9380BC-3FCD-4409-AE32-4DC023665F7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488998-37FF-4E62-B3E9-A6FB18F4762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96908E-DABE-47F7-8709-7C9278C7611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88DDBC-AF4D-4FB0-B469-02FF8CB0163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657CA1-EA58-403F-8129-680F8CBB7ED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FFDE2C-C9F5-4D7E-994F-E1D85FFB222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2375DC-1A52-4F6C-B0DF-30E291D8DFA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74D4B9-42E6-47EC-98F2-2696C1D9F53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CD9857-3C4F-4153-8680-42B0B569908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1342E3-C4D7-45CA-8EAE-2C7C7E77538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8BCF3D4-5A39-4AA2-89F3-8EF136F7D0A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hyperlink" Target="https://pmc.ncbi.nlm.nih.gov/articles/PMC6525649/" TargetMode="External"/><Relationship Id="rId3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54;p13"/>
          <p:cNvSpPr/>
          <p:nvPr/>
        </p:nvSpPr>
        <p:spPr>
          <a:xfrm>
            <a:off x="493560" y="1486800"/>
            <a:ext cx="808092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Cả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nh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bá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o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sớ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m,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Giá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m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sát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dịc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tễ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và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kh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án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g 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thu</a:t>
            </a:r>
            <a:r>
              <a:rPr lang="en" sz="32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ốc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360" y="84600"/>
            <a:ext cx="9143640" cy="134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493560" y="2661840"/>
            <a:ext cx="7964640" cy="24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1212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Ca lâm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sàng 1:</a:t>
            </a:r>
            <a:br>
              <a:rPr sz="2800"/>
            </a:b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Phân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tích dữ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liệu giải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trình tự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toàn bộ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bộ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gene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(WGS)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từ mẫu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nuôi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cấy vi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khuẩn </a:t>
            </a:r>
            <a:r>
              <a:rPr lang="en" sz="2800" b="1" u="none" strike="noStrike">
                <a:solidFill>
                  <a:schemeClr val="accent5"/>
                </a:solidFill>
                <a:effectLst/>
                <a:uFillTx/>
                <a:latin typeface="Arial"/>
                <a:ea typeface="Arial"/>
              </a:rPr>
              <a:t>thuần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68B8E5-073E-4EA8-8956-99DEBD52197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Google Shape;62;p14"/>
          <p:cNvSpPr/>
          <p:nvPr/>
        </p:nvSpPr>
        <p:spPr>
          <a:xfrm>
            <a:off x="270720" y="215640"/>
            <a:ext cx="3812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Thô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ng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tin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mẫ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3;p14"/>
          <p:cNvSpPr/>
          <p:nvPr/>
        </p:nvSpPr>
        <p:spPr>
          <a:xfrm>
            <a:off x="664560" y="1126440"/>
            <a:ext cx="7814520" cy="10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419040">
              <a:lnSpc>
                <a:spcPct val="100000"/>
              </a:lnSpc>
              <a:buClr>
                <a:srgbClr val="595959"/>
              </a:buClr>
              <a:buFont typeface="Arial"/>
              <a:buChar char="-"/>
            </a:pP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ẫ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ẩ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ầ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á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ế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ổ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ố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à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ả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ì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ự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29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68;p15"/>
          <p:cNvSpPr/>
          <p:nvPr/>
        </p:nvSpPr>
        <p:spPr>
          <a:xfrm>
            <a:off x="172800" y="1643040"/>
            <a:ext cx="639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raw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9;p15"/>
          <p:cNvSpPr/>
          <p:nvPr/>
        </p:nvSpPr>
        <p:spPr>
          <a:xfrm>
            <a:off x="3308040" y="1549080"/>
            <a:ext cx="1202760" cy="699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Unmapp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ed data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human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Google Shape;70;p15"/>
          <p:cNvCxnSpPr>
            <a:stCxn id="47" idx="3"/>
            <a:endCxn id="50" idx="1"/>
          </p:cNvCxnSpPr>
          <p:nvPr/>
        </p:nvCxnSpPr>
        <p:spPr>
          <a:xfrm>
            <a:off x="812520" y="1890360"/>
            <a:ext cx="857880" cy="12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51" name="Google Shape;72;p15"/>
          <p:cNvSpPr/>
          <p:nvPr/>
        </p:nvSpPr>
        <p:spPr>
          <a:xfrm>
            <a:off x="812880" y="1299960"/>
            <a:ext cx="1543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trimming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bad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73;p15"/>
          <p:cNvSpPr/>
          <p:nvPr/>
        </p:nvSpPr>
        <p:spPr>
          <a:xfrm>
            <a:off x="5371560" y="165564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scaffolds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Google Shape;74;p15"/>
          <p:cNvCxnSpPr>
            <a:stCxn id="48" idx="3"/>
            <a:endCxn id="52" idx="1"/>
          </p:cNvCxnSpPr>
          <p:nvPr/>
        </p:nvCxnSpPr>
        <p:spPr>
          <a:xfrm>
            <a:off x="4510800" y="1898640"/>
            <a:ext cx="861120" cy="4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54" name="Google Shape;75;p15"/>
          <p:cNvSpPr/>
          <p:nvPr/>
        </p:nvSpPr>
        <p:spPr>
          <a:xfrm>
            <a:off x="4541040" y="1299960"/>
            <a:ext cx="1104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De novo assembly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6;p15"/>
          <p:cNvSpPr/>
          <p:nvPr/>
        </p:nvSpPr>
        <p:spPr>
          <a:xfrm>
            <a:off x="7534800" y="1655640"/>
            <a:ext cx="14360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Google Shape;77;p15"/>
          <p:cNvCxnSpPr>
            <a:stCxn id="47" idx="0"/>
            <a:endCxn id="57" idx="1"/>
          </p:cNvCxnSpPr>
          <p:nvPr/>
        </p:nvCxnSpPr>
        <p:spPr>
          <a:xfrm flipV="1">
            <a:off x="492840" y="721440"/>
            <a:ext cx="1177920" cy="921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58" name="Google Shape;79;p15"/>
          <p:cNvSpPr/>
          <p:nvPr/>
        </p:nvSpPr>
        <p:spPr>
          <a:xfrm>
            <a:off x="3693600" y="2910600"/>
            <a:ext cx="21132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get genome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71;p15"/>
          <p:cNvSpPr/>
          <p:nvPr/>
        </p:nvSpPr>
        <p:spPr>
          <a:xfrm>
            <a:off x="1670040" y="1497960"/>
            <a:ext cx="874080" cy="81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quality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Google Shape;80;p15"/>
          <p:cNvCxnSpPr>
            <a:stCxn id="50" idx="3"/>
            <a:endCxn id="48" idx="1"/>
          </p:cNvCxnSpPr>
          <p:nvPr/>
        </p:nvCxnSpPr>
        <p:spPr>
          <a:xfrm flipV="1">
            <a:off x="2544120" y="1898640"/>
            <a:ext cx="764280" cy="4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60" name="Google Shape;81;p15"/>
          <p:cNvSpPr/>
          <p:nvPr/>
        </p:nvSpPr>
        <p:spPr>
          <a:xfrm>
            <a:off x="2535840" y="1151280"/>
            <a:ext cx="13291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human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Google Shape;82;p15"/>
          <p:cNvCxnSpPr>
            <a:stCxn id="52" idx="2"/>
            <a:endCxn id="62" idx="0"/>
          </p:cNvCxnSpPr>
          <p:nvPr/>
        </p:nvCxnSpPr>
        <p:spPr>
          <a:xfrm flipH="1">
            <a:off x="5280480" y="2149920"/>
            <a:ext cx="644040" cy="5853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62" name="Google Shape;83;p15"/>
          <p:cNvSpPr/>
          <p:nvPr/>
        </p:nvSpPr>
        <p:spPr>
          <a:xfrm>
            <a:off x="4615920" y="2734920"/>
            <a:ext cx="13291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4;p15"/>
          <p:cNvSpPr/>
          <p:nvPr/>
        </p:nvSpPr>
        <p:spPr>
          <a:xfrm>
            <a:off x="33120" y="5040"/>
            <a:ext cx="4912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Quy trình phân tích tin sinh học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5;p15"/>
          <p:cNvSpPr/>
          <p:nvPr/>
        </p:nvSpPr>
        <p:spPr>
          <a:xfrm>
            <a:off x="6429600" y="1497960"/>
            <a:ext cx="1104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assembly QC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6;p15"/>
          <p:cNvSpPr/>
          <p:nvPr/>
        </p:nvSpPr>
        <p:spPr>
          <a:xfrm>
            <a:off x="4513680" y="2105280"/>
            <a:ext cx="1779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species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identification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7;p15"/>
          <p:cNvSpPr/>
          <p:nvPr/>
        </p:nvSpPr>
        <p:spPr>
          <a:xfrm>
            <a:off x="7762680" y="2734560"/>
            <a:ext cx="116208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AMR gene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8;p15"/>
          <p:cNvSpPr/>
          <p:nvPr/>
        </p:nvSpPr>
        <p:spPr>
          <a:xfrm>
            <a:off x="6285960" y="2716920"/>
            <a:ext cx="116208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Virulenc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 factor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Google Shape;89;p15"/>
          <p:cNvCxnSpPr>
            <a:stCxn id="52" idx="2"/>
            <a:endCxn id="67" idx="0"/>
          </p:cNvCxnSpPr>
          <p:nvPr/>
        </p:nvCxnSpPr>
        <p:spPr>
          <a:xfrm>
            <a:off x="5924160" y="2149920"/>
            <a:ext cx="943200" cy="5673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cxnSp>
        <p:nvCxnSpPr>
          <p:cNvPr id="69" name="Google Shape;90;p15"/>
          <p:cNvCxnSpPr>
            <a:stCxn id="52" idx="2"/>
            <a:endCxn id="66" idx="0"/>
          </p:cNvCxnSpPr>
          <p:nvPr/>
        </p:nvCxnSpPr>
        <p:spPr>
          <a:xfrm>
            <a:off x="5924160" y="2149920"/>
            <a:ext cx="2419920" cy="5850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70" name="Google Shape;91;p15"/>
          <p:cNvSpPr/>
          <p:nvPr/>
        </p:nvSpPr>
        <p:spPr>
          <a:xfrm>
            <a:off x="633240" y="2757240"/>
            <a:ext cx="1287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Mapped data bacteria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oogle Shape;92;p15"/>
          <p:cNvCxnSpPr>
            <a:stCxn id="62" idx="1"/>
            <a:endCxn id="72" idx="3"/>
          </p:cNvCxnSpPr>
          <p:nvPr/>
        </p:nvCxnSpPr>
        <p:spPr>
          <a:xfrm flipH="1">
            <a:off x="3753000" y="2982240"/>
            <a:ext cx="863280" cy="140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73" name="Google Shape;94;p15"/>
          <p:cNvSpPr/>
          <p:nvPr/>
        </p:nvSpPr>
        <p:spPr>
          <a:xfrm>
            <a:off x="408960" y="2228760"/>
            <a:ext cx="21132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bacteria reference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Google Shape;95;p15"/>
          <p:cNvCxnSpPr>
            <a:stCxn id="48" idx="2"/>
            <a:endCxn id="70" idx="0"/>
          </p:cNvCxnSpPr>
          <p:nvPr/>
        </p:nvCxnSpPr>
        <p:spPr>
          <a:xfrm flipH="1">
            <a:off x="1277280" y="2248200"/>
            <a:ext cx="2632680" cy="5094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72" name="Google Shape;93;p15"/>
          <p:cNvSpPr/>
          <p:nvPr/>
        </p:nvSpPr>
        <p:spPr>
          <a:xfrm>
            <a:off x="2648160" y="274860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genome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referenc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Google Shape;96;p15"/>
          <p:cNvCxnSpPr>
            <a:stCxn id="72" idx="1"/>
            <a:endCxn id="70" idx="3"/>
          </p:cNvCxnSpPr>
          <p:nvPr/>
        </p:nvCxnSpPr>
        <p:spPr>
          <a:xfrm flipH="1">
            <a:off x="1920960" y="2995920"/>
            <a:ext cx="727560" cy="90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76" name="Google Shape;97;p15"/>
          <p:cNvSpPr/>
          <p:nvPr/>
        </p:nvSpPr>
        <p:spPr>
          <a:xfrm>
            <a:off x="6584400" y="2318400"/>
            <a:ext cx="762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predict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98;p15"/>
          <p:cNvSpPr/>
          <p:nvPr/>
        </p:nvSpPr>
        <p:spPr>
          <a:xfrm>
            <a:off x="633240" y="3815280"/>
            <a:ext cx="1287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coverage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99;p15"/>
          <p:cNvCxnSpPr>
            <a:stCxn id="70" idx="2"/>
            <a:endCxn id="77" idx="0"/>
          </p:cNvCxnSpPr>
          <p:nvPr/>
        </p:nvCxnSpPr>
        <p:spPr>
          <a:xfrm>
            <a:off x="1277280" y="3251520"/>
            <a:ext cx="360" cy="56412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79" name="Google Shape;100;p15"/>
          <p:cNvSpPr/>
          <p:nvPr/>
        </p:nvSpPr>
        <p:spPr>
          <a:xfrm>
            <a:off x="1234440" y="3225600"/>
            <a:ext cx="21132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coverage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calculatio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8;p15"/>
          <p:cNvSpPr/>
          <p:nvPr/>
        </p:nvSpPr>
        <p:spPr>
          <a:xfrm>
            <a:off x="1670400" y="474120"/>
            <a:ext cx="14360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Quality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Google Shape;101;p15"/>
          <p:cNvCxnSpPr>
            <a:stCxn id="60" idx="3"/>
            <a:endCxn id="57" idx="3"/>
          </p:cNvCxnSpPr>
          <p:nvPr/>
        </p:nvCxnSpPr>
        <p:spPr>
          <a:xfrm flipH="1" flipV="1">
            <a:off x="3106440" y="721440"/>
            <a:ext cx="758880" cy="7995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cxnSp>
        <p:nvCxnSpPr>
          <p:cNvPr id="81" name="Google Shape;102;p15"/>
          <p:cNvCxnSpPr>
            <a:stCxn id="52" idx="3"/>
          </p:cNvCxnSpPr>
          <p:nvPr/>
        </p:nvCxnSpPr>
        <p:spPr>
          <a:xfrm>
            <a:off x="6476400" y="1902960"/>
            <a:ext cx="1046160" cy="216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82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B70B05-14A3-41B7-ACF0-D83027AE032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8BB19D-14CE-4A98-A24A-0A6F03C8C3E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Google Shape;109;p16"/>
          <p:cNvPicPr/>
          <p:nvPr/>
        </p:nvPicPr>
        <p:blipFill>
          <a:blip r:embed="rId1"/>
          <a:stretch/>
        </p:blipFill>
        <p:spPr>
          <a:xfrm>
            <a:off x="350640" y="114480"/>
            <a:ext cx="8167320" cy="459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á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á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ất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lư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ữ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liệ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ô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à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hi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là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ạ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0A46C7-EBB6-4C3D-93F4-AB900F88090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20;p18"/>
          <p:cNvSpPr/>
          <p:nvPr/>
        </p:nvSpPr>
        <p:spPr>
          <a:xfrm>
            <a:off x="1123560" y="374760"/>
            <a:ext cx="6845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Bảng tóm tắt các chỉ số đánh giá chất lượng dữ liệu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2AAA7F-029C-4623-9783-4188BE49097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9" name="Google Shape;122;p18"/>
          <p:cNvGraphicFramePr/>
          <p:nvPr/>
        </p:nvGraphicFramePr>
        <p:xfrm>
          <a:off x="828720" y="1468080"/>
          <a:ext cx="6749640" cy="2086920"/>
        </p:xfrm>
        <a:graphic>
          <a:graphicData uri="http://schemas.openxmlformats.org/drawingml/2006/table">
            <a:tbl>
              <a:tblPr/>
              <a:tblGrid>
                <a:gridCol w="755640"/>
                <a:gridCol w="942120"/>
                <a:gridCol w="685080"/>
                <a:gridCol w="848160"/>
                <a:gridCol w="802080"/>
                <a:gridCol w="840960"/>
                <a:gridCol w="579240"/>
                <a:gridCol w="1295280"/>
              </a:tblGrid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Sample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Raw 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Raw Yield 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Trimmed 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Trimmed read Yield 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Retention Rate%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GC%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Mean Length bp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75360744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11.30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74221898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8.90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97.35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31.0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120.0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Eco1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9157216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1.37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9125858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49.0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145.8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Mbovis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102251024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15.34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96274322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9.99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94.09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65.0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103.8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SAL1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68473658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10.27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66881740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8.09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97.60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51.0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121.2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Một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số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hình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ảnh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chất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lượn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 dữ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liệu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trướ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và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khi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làm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sạch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F1867F-CB3B-4614-9C8F-0529E2214CC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206D1A-C780-4C3C-835E-334C0D87A0F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Google Shape;134;p20"/>
          <p:cNvPicPr/>
          <p:nvPr/>
        </p:nvPicPr>
        <p:blipFill>
          <a:blip r:embed="rId1"/>
          <a:stretch/>
        </p:blipFill>
        <p:spPr>
          <a:xfrm>
            <a:off x="464400" y="930240"/>
            <a:ext cx="7948800" cy="397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35;p20"/>
          <p:cNvSpPr/>
          <p:nvPr/>
        </p:nvSpPr>
        <p:spPr>
          <a:xfrm>
            <a:off x="0" y="0"/>
            <a:ext cx="51379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GC content: trước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6;p20"/>
          <p:cNvSpPr/>
          <p:nvPr/>
        </p:nvSpPr>
        <p:spPr>
          <a:xfrm>
            <a:off x="377280" y="468360"/>
            <a:ext cx="87663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-&gt; Có 4 đỉnh GC, đủ cho 4 mẫu thuần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01E368-2706-4A63-9A05-43681758E54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Google Shape;142;p21"/>
          <p:cNvPicPr/>
          <p:nvPr/>
        </p:nvPicPr>
        <p:blipFill>
          <a:blip r:embed="rId1"/>
          <a:stretch/>
        </p:blipFill>
        <p:spPr>
          <a:xfrm>
            <a:off x="392040" y="855360"/>
            <a:ext cx="8079840" cy="40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143;p21"/>
          <p:cNvSpPr/>
          <p:nvPr/>
        </p:nvSpPr>
        <p:spPr>
          <a:xfrm>
            <a:off x="0" y="0"/>
            <a:ext cx="51379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GC content: sau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44;p21"/>
          <p:cNvSpPr/>
          <p:nvPr/>
        </p:nvSpPr>
        <p:spPr>
          <a:xfrm>
            <a:off x="355680" y="448200"/>
            <a:ext cx="4550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-&gt; Có 4 đỉnh GC, đủ cho 4 mẫu thuần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BF794E-C61C-42B1-8001-9AE57544687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Google Shape;150;p22"/>
          <p:cNvPicPr/>
          <p:nvPr/>
        </p:nvPicPr>
        <p:blipFill>
          <a:blip r:embed="rId1"/>
          <a:stretch/>
        </p:blipFill>
        <p:spPr>
          <a:xfrm>
            <a:off x="463680" y="531360"/>
            <a:ext cx="8216640" cy="410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51;p22"/>
          <p:cNvSpPr/>
          <p:nvPr/>
        </p:nvSpPr>
        <p:spPr>
          <a:xfrm>
            <a:off x="0" y="0"/>
            <a:ext cx="71413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Chất lượng trung bình từng base: trước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52;p22"/>
          <p:cNvSpPr/>
          <p:nvPr/>
        </p:nvSpPr>
        <p:spPr>
          <a:xfrm>
            <a:off x="6477840" y="1474200"/>
            <a:ext cx="2543040" cy="711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066458-9163-4730-98A7-E532AF34D73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Google Shape;158;p23"/>
          <p:cNvPicPr/>
          <p:nvPr/>
        </p:nvPicPr>
        <p:blipFill>
          <a:blip r:embed="rId1"/>
          <a:stretch/>
        </p:blipFill>
        <p:spPr>
          <a:xfrm>
            <a:off x="307080" y="460800"/>
            <a:ext cx="8442720" cy="42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Google Shape;159;p23"/>
          <p:cNvSpPr/>
          <p:nvPr/>
        </p:nvSpPr>
        <p:spPr>
          <a:xfrm>
            <a:off x="0" y="0"/>
            <a:ext cx="7654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Chất lượng trung bình từng base: sau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28089F-ED9D-4F25-B17B-A6DE340F721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Google Shape;165;p24"/>
          <p:cNvSpPr/>
          <p:nvPr/>
        </p:nvSpPr>
        <p:spPr>
          <a:xfrm>
            <a:off x="0" y="0"/>
            <a:ext cx="61376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Chất lượng từng đoạn đọc: trước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Google Shape;166;p24"/>
          <p:cNvPicPr/>
          <p:nvPr/>
        </p:nvPicPr>
        <p:blipFill>
          <a:blip r:embed="rId1"/>
          <a:stretch/>
        </p:blipFill>
        <p:spPr>
          <a:xfrm>
            <a:off x="105120" y="628560"/>
            <a:ext cx="8466120" cy="423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951456-C2DB-40FF-B318-45064BD7B16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Google Shape;172;p25"/>
          <p:cNvSpPr/>
          <p:nvPr/>
        </p:nvSpPr>
        <p:spPr>
          <a:xfrm>
            <a:off x="0" y="0"/>
            <a:ext cx="61376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1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Chất lượng từng đoạn đọc: sau khi lọc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173;p25"/>
          <p:cNvPicPr/>
          <p:nvPr/>
        </p:nvPicPr>
        <p:blipFill>
          <a:blip r:embed="rId1"/>
          <a:stretch/>
        </p:blipFill>
        <p:spPr>
          <a:xfrm>
            <a:off x="126360" y="403200"/>
            <a:ext cx="8673840" cy="433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886780-CF21-4047-8C12-769EEFBD629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Google Shape;179;p26"/>
          <p:cNvPicPr/>
          <p:nvPr/>
        </p:nvPicPr>
        <p:blipFill>
          <a:blip r:embed="rId1"/>
          <a:stretch/>
        </p:blipFill>
        <p:spPr>
          <a:xfrm>
            <a:off x="290520" y="144720"/>
            <a:ext cx="8346960" cy="466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ết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ả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đị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ài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F7D7F5-93D4-4323-866E-27EA4FFF193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Google Shape;186;p27"/>
          <p:cNvSpPr/>
          <p:nvPr/>
        </p:nvSpPr>
        <p:spPr>
          <a:xfrm>
            <a:off x="2490120" y="3114000"/>
            <a:ext cx="424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Cơ sở dữ liệu GTDB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9878CD-1C64-4E2A-A1E9-C59258462BC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Google Shape;192;p28"/>
          <p:cNvSpPr/>
          <p:nvPr/>
        </p:nvSpPr>
        <p:spPr>
          <a:xfrm>
            <a:off x="74160" y="58680"/>
            <a:ext cx="4912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Kết quả định danh loài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0" name="Google Shape;193;p28"/>
          <p:cNvGraphicFramePr/>
          <p:nvPr/>
        </p:nvGraphicFramePr>
        <p:xfrm>
          <a:off x="74160" y="454320"/>
          <a:ext cx="8759160" cy="4328280"/>
        </p:xfrm>
        <a:graphic>
          <a:graphicData uri="http://schemas.openxmlformats.org/drawingml/2006/table">
            <a:tbl>
              <a:tblPr/>
              <a:tblGrid>
                <a:gridCol w="875520"/>
                <a:gridCol w="4250880"/>
                <a:gridCol w="1771200"/>
                <a:gridCol w="943200"/>
                <a:gridCol w="918000"/>
              </a:tblGrid>
              <a:tr h="8031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genome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Classification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Closest genome reference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Closest genome ANI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Closest genome AF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31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d__Bacteria;p__Campylobacterota;c__Campylobacteria;o__Campylobacterales;f__Campylobacteraceae;g__Campylobacter_D;s__Campylobacter_ jejuni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GCF_001457695.1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97.49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0.878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31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Eco1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d__Bacteria;p__Pseudomonadota;c__Gammaproteobacteria;o__Enterobacterales;f__Enterobacteriaceae;g__Escherichia;s__Escherichia coli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GCF_003697165.2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96.44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0.793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31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Mbovis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d__Bacteria;p__Actinomycetota;c__Actinomycetes;o__Mycobacteriales;f__Mycobacteriaceae;g__Mycobacterium;s__Mycobacterium tuberculosis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GCF_000195955.2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99.87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0.977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31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SAL1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d__Bacteria;p__Pseudomonadota;c__Gammaproteobacteria;o__Enterobacterales;f__Enterobacteriaceae;g__Salmonella;s__Salmonella enterica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GCF_000006945.2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98.48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0.888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Google Shape;194;p28"/>
          <p:cNvSpPr/>
          <p:nvPr/>
        </p:nvSpPr>
        <p:spPr>
          <a:xfrm>
            <a:off x="74160" y="4595040"/>
            <a:ext cx="79516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Ghi chú: ngưỡng ANI &gt; 95% được xem là cùng loài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chất lượng genome sau lắp ráp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418CC1-6E05-42B3-B3DD-9184020798D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1E130C-7162-444F-96FD-6BFA35DD3CF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5" name="Google Shape;206;p30"/>
          <p:cNvGraphicFramePr/>
          <p:nvPr/>
        </p:nvGraphicFramePr>
        <p:xfrm>
          <a:off x="105120" y="808200"/>
          <a:ext cx="8786520" cy="3094560"/>
        </p:xfrm>
        <a:graphic>
          <a:graphicData uri="http://schemas.openxmlformats.org/drawingml/2006/table">
            <a:tbl>
              <a:tblPr/>
              <a:tblGrid>
                <a:gridCol w="889560"/>
                <a:gridCol w="1699200"/>
                <a:gridCol w="931320"/>
                <a:gridCol w="997200"/>
                <a:gridCol w="1173240"/>
                <a:gridCol w="1070640"/>
                <a:gridCol w="1131480"/>
                <a:gridCol w="892440"/>
              </a:tblGrid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Sample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Lineage_Dataset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Total BUSCOs (n)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Complete% (C)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SingleCopy% (S)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Duplicated% (D)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Fragmented% (F)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Missing% (M)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campylobacterota_odb12.2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623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95.8%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95.7%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0.2%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0.5%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3.7%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Eco1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enterobacteriaceae_odb12.2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874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99.8%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99.7%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Mbovis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mycobacterium_odb12.2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1512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95.6%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94.7%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0.9%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1.1%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3.3%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SAL1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enterobacteriaceae_odb12.2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874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99.5%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99.5%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0.3%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6" name="Google Shape;207;p30"/>
          <p:cNvSpPr/>
          <p:nvPr/>
        </p:nvSpPr>
        <p:spPr>
          <a:xfrm>
            <a:off x="105120" y="259560"/>
            <a:ext cx="8987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độ hoàn thiện của genome/assembly dựa trên BUSCO marker gene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độ phủ (coverage) genome của loài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EB32FE-7E18-4FB5-BB3A-D2AA6D9DF09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3D13F4-40D3-4EC3-830E-AD0485FFC74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Google Shape;219;p32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AFEA97-886F-4D02-B238-A1699FE17E5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Google Shape;225;p33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42092D-288A-4D03-8156-D128F170653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4" name="Google Shape;231;p34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C08468-5C58-4A5D-A05B-DF149BBB985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Google Shape;237;p35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Gen kháng kháng sinh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1BBA47-41F6-4482-BDDF-99764FBB97D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Google Shape;244;p36"/>
          <p:cNvSpPr/>
          <p:nvPr/>
        </p:nvSpPr>
        <p:spPr>
          <a:xfrm>
            <a:off x="2490120" y="3114000"/>
            <a:ext cx="424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Cơ sở dữ liệu CARD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176008-1318-496D-9D21-04401BF3815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Google Shape;250;p37"/>
          <p:cNvPicPr/>
          <p:nvPr/>
        </p:nvPicPr>
        <p:blipFill>
          <a:blip r:embed="rId1"/>
          <a:stretch/>
        </p:blipFill>
        <p:spPr>
          <a:xfrm>
            <a:off x="1130040" y="78120"/>
            <a:ext cx="7132680" cy="445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251;p37"/>
          <p:cNvSpPr/>
          <p:nvPr/>
        </p:nvSpPr>
        <p:spPr>
          <a:xfrm>
            <a:off x="235080" y="4536360"/>
            <a:ext cx="424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%identity và %length coverage &gt; 90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5ADB92-7421-4047-AAC6-17E730134FC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Google Shape;257;p38"/>
          <p:cNvPicPr/>
          <p:nvPr/>
        </p:nvPicPr>
        <p:blipFill>
          <a:blip r:embed="rId1"/>
          <a:stretch/>
        </p:blipFill>
        <p:spPr>
          <a:xfrm>
            <a:off x="152280" y="741960"/>
            <a:ext cx="8838720" cy="309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F2C4B6-C6F7-484D-B6C6-FAFE54AAE83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Google Shape;263;p39"/>
          <p:cNvPicPr/>
          <p:nvPr/>
        </p:nvPicPr>
        <p:blipFill>
          <a:blip r:embed="rId1"/>
          <a:srcRect l="0" t="0" r="0" b="6050"/>
          <a:stretch/>
        </p:blipFill>
        <p:spPr>
          <a:xfrm>
            <a:off x="0" y="0"/>
            <a:ext cx="8664480" cy="508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C213E5-854B-4398-BC22-82BA8C01E95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Google Shape;269;p40"/>
          <p:cNvPicPr/>
          <p:nvPr/>
        </p:nvPicPr>
        <p:blipFill>
          <a:blip r:embed="rId1"/>
          <a:srcRect l="0" t="0" r="13777" b="0"/>
          <a:stretch/>
        </p:blipFill>
        <p:spPr>
          <a:xfrm>
            <a:off x="30960" y="1071720"/>
            <a:ext cx="9020520" cy="16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270;p40"/>
          <p:cNvPicPr/>
          <p:nvPr/>
        </p:nvPicPr>
        <p:blipFill>
          <a:blip r:embed="rId2"/>
          <a:srcRect l="0" t="0" r="13656" b="0"/>
          <a:stretch/>
        </p:blipFill>
        <p:spPr>
          <a:xfrm>
            <a:off x="92520" y="2910240"/>
            <a:ext cx="9020520" cy="166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271;p40"/>
          <p:cNvSpPr/>
          <p:nvPr/>
        </p:nvSpPr>
        <p:spPr>
          <a:xfrm>
            <a:off x="0" y="156600"/>
            <a:ext cx="902052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 anchorCtr="1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Gen: Cjej_gyrA_FLO (Campylobacter jejuni gyrA conferring resistance to fluoroquinolones)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“targeted_AMR": từ mẫu CAM1 có đột biến dẫn đến kháng kháng sinh (C -&gt;T)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5F45A8-4EE7-4944-842B-EE7B97FC6C9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" name="Google Shape;277;p41"/>
          <p:cNvPicPr/>
          <p:nvPr/>
        </p:nvPicPr>
        <p:blipFill>
          <a:blip r:embed="rId1"/>
          <a:stretch/>
        </p:blipFill>
        <p:spPr>
          <a:xfrm>
            <a:off x="212040" y="659520"/>
            <a:ext cx="8838720" cy="359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Google Shape;278;p41"/>
          <p:cNvSpPr/>
          <p:nvPr/>
        </p:nvSpPr>
        <p:spPr>
          <a:xfrm>
            <a:off x="152280" y="4607280"/>
            <a:ext cx="491760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6680" bIns="7668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https://pmc.ncbi.nlm.nih.gov/articles/PMC6525649/</a:t>
            </a:r>
            <a:r>
              <a:rPr lang="en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79;p41"/>
          <p:cNvSpPr/>
          <p:nvPr/>
        </p:nvSpPr>
        <p:spPr>
          <a:xfrm>
            <a:off x="231120" y="202680"/>
            <a:ext cx="3812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Cơ chế kháng kháng sinh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Gen độc lực 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(virulence factor)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D072FE-4AC1-4480-BE7A-3D22BDA7C41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Google Shape;286;p42"/>
          <p:cNvSpPr/>
          <p:nvPr/>
        </p:nvSpPr>
        <p:spPr>
          <a:xfrm>
            <a:off x="2490120" y="3114000"/>
            <a:ext cx="424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Cơ sở dữ liệu VFDB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FB2B10-9B58-40F7-BBDE-BF57610B85E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Google Shape;292;p43"/>
          <p:cNvSpPr/>
          <p:nvPr/>
        </p:nvSpPr>
        <p:spPr>
          <a:xfrm>
            <a:off x="80280" y="4629240"/>
            <a:ext cx="424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%identity và %length coverage &gt; 90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Google Shape;293;p43"/>
          <p:cNvPicPr/>
          <p:nvPr/>
        </p:nvPicPr>
        <p:blipFill>
          <a:blip r:embed="rId1"/>
          <a:stretch/>
        </p:blipFill>
        <p:spPr>
          <a:xfrm>
            <a:off x="1118160" y="29160"/>
            <a:ext cx="6812640" cy="46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98;p44"/>
          <p:cNvSpPr/>
          <p:nvPr/>
        </p:nvSpPr>
        <p:spPr>
          <a:xfrm>
            <a:off x="583200" y="977760"/>
            <a:ext cx="79768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Ca lâm sàng 2: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Phân tích nhắm đích virus từ dữ liệu giải shotgun metagenomics từ mẫu máu heo bệnh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31C0B8-8067-4F07-9610-2EC835056FA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 mẫu ASFV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buNone/>
            </a:pPr>
            <a:endParaRPr lang="en-US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A85625-1842-4E16-96A2-0CDE9F30667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77DB15-A56A-4927-B161-CFBE2AE41A8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Google Shape;312;p46"/>
          <p:cNvSpPr/>
          <p:nvPr/>
        </p:nvSpPr>
        <p:spPr>
          <a:xfrm>
            <a:off x="270720" y="215640"/>
            <a:ext cx="3812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Thông tin mẫu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313;p46"/>
          <p:cNvSpPr/>
          <p:nvPr/>
        </p:nvSpPr>
        <p:spPr>
          <a:xfrm>
            <a:off x="664560" y="1126440"/>
            <a:ext cx="781452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419040">
              <a:lnSpc>
                <a:spcPct val="100000"/>
              </a:lnSpc>
              <a:buClr>
                <a:srgbClr val="595959"/>
              </a:buClr>
              <a:buFont typeface="Arial"/>
              <a:buChar char="-"/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ẫ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á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ễ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á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ế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ổ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à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ì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ự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318;p47"/>
          <p:cNvSpPr/>
          <p:nvPr/>
        </p:nvSpPr>
        <p:spPr>
          <a:xfrm>
            <a:off x="341280" y="1970640"/>
            <a:ext cx="639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raw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319;p47"/>
          <p:cNvSpPr/>
          <p:nvPr/>
        </p:nvSpPr>
        <p:spPr>
          <a:xfrm>
            <a:off x="3476520" y="1876680"/>
            <a:ext cx="1202760" cy="699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Unmapped human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Google Shape;320;p47"/>
          <p:cNvCxnSpPr>
            <a:stCxn id="169" idx="3"/>
            <a:endCxn id="172" idx="1"/>
          </p:cNvCxnSpPr>
          <p:nvPr/>
        </p:nvCxnSpPr>
        <p:spPr>
          <a:xfrm>
            <a:off x="981000" y="2217960"/>
            <a:ext cx="857880" cy="12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73" name="Google Shape;322;p47"/>
          <p:cNvSpPr/>
          <p:nvPr/>
        </p:nvSpPr>
        <p:spPr>
          <a:xfrm>
            <a:off x="981360" y="1687680"/>
            <a:ext cx="1543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trimming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bad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323;p47"/>
          <p:cNvSpPr/>
          <p:nvPr/>
        </p:nvSpPr>
        <p:spPr>
          <a:xfrm>
            <a:off x="5659200" y="197064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Unmapped pig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Google Shape;324;p47"/>
          <p:cNvCxnSpPr>
            <a:stCxn id="170" idx="3"/>
            <a:endCxn id="174" idx="1"/>
          </p:cNvCxnSpPr>
          <p:nvPr/>
        </p:nvCxnSpPr>
        <p:spPr>
          <a:xfrm flipV="1">
            <a:off x="4679280" y="2217960"/>
            <a:ext cx="980280" cy="86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76" name="Google Shape;325;p47"/>
          <p:cNvSpPr/>
          <p:nvPr/>
        </p:nvSpPr>
        <p:spPr>
          <a:xfrm>
            <a:off x="4631400" y="1649520"/>
            <a:ext cx="1104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pig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326;p47"/>
          <p:cNvSpPr/>
          <p:nvPr/>
        </p:nvSpPr>
        <p:spPr>
          <a:xfrm>
            <a:off x="6816960" y="269136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Is ASFV present?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Google Shape;327;p47"/>
          <p:cNvCxnSpPr>
            <a:stCxn id="174" idx="2"/>
            <a:endCxn id="177" idx="0"/>
          </p:cNvCxnSpPr>
          <p:nvPr/>
        </p:nvCxnSpPr>
        <p:spPr>
          <a:xfrm>
            <a:off x="6211800" y="2464920"/>
            <a:ext cx="1158120" cy="2268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79" name="Google Shape;328;p47"/>
          <p:cNvSpPr/>
          <p:nvPr/>
        </p:nvSpPr>
        <p:spPr>
          <a:xfrm>
            <a:off x="6945120" y="2239560"/>
            <a:ext cx="2113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Taxonomic classification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321;p47"/>
          <p:cNvSpPr/>
          <p:nvPr/>
        </p:nvSpPr>
        <p:spPr>
          <a:xfrm>
            <a:off x="1838520" y="1825560"/>
            <a:ext cx="874080" cy="81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quality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Google Shape;329;p47"/>
          <p:cNvCxnSpPr>
            <a:stCxn id="172" idx="3"/>
            <a:endCxn id="170" idx="1"/>
          </p:cNvCxnSpPr>
          <p:nvPr/>
        </p:nvCxnSpPr>
        <p:spPr>
          <a:xfrm flipV="1">
            <a:off x="2712600" y="2226240"/>
            <a:ext cx="764280" cy="4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81" name="Google Shape;330;p47"/>
          <p:cNvSpPr/>
          <p:nvPr/>
        </p:nvSpPr>
        <p:spPr>
          <a:xfrm>
            <a:off x="2704320" y="1479240"/>
            <a:ext cx="110484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human 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2" name="Google Shape;331;p47"/>
          <p:cNvCxnSpPr>
            <a:stCxn id="177" idx="1"/>
            <a:endCxn id="183" idx="3"/>
          </p:cNvCxnSpPr>
          <p:nvPr/>
        </p:nvCxnSpPr>
        <p:spPr>
          <a:xfrm flipH="1">
            <a:off x="6601320" y="2938680"/>
            <a:ext cx="216000" cy="22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83" name="Google Shape;332;p47"/>
          <p:cNvSpPr/>
          <p:nvPr/>
        </p:nvSpPr>
        <p:spPr>
          <a:xfrm>
            <a:off x="5961600" y="2713680"/>
            <a:ext cx="639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6AA8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yes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333;p47"/>
          <p:cNvSpPr/>
          <p:nvPr/>
        </p:nvSpPr>
        <p:spPr>
          <a:xfrm>
            <a:off x="3128400" y="2802240"/>
            <a:ext cx="179568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Mapped ASFV data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Google Shape;334;p47"/>
          <p:cNvCxnSpPr>
            <a:stCxn id="174" idx="2"/>
            <a:endCxn id="184" idx="0"/>
          </p:cNvCxnSpPr>
          <p:nvPr/>
        </p:nvCxnSpPr>
        <p:spPr>
          <a:xfrm flipH="1">
            <a:off x="4026240" y="2464920"/>
            <a:ext cx="2185920" cy="337680"/>
          </a:xfrm>
          <a:prstGeom prst="straightConnector1">
            <a:avLst/>
          </a:prstGeom>
          <a:ln w="9525">
            <a:solidFill>
              <a:srgbClr val="6AA84F"/>
            </a:solidFill>
            <a:round/>
            <a:tailEnd len="med" type="triangle" w="med"/>
          </a:ln>
        </p:spPr>
      </p:cxnSp>
      <p:sp>
        <p:nvSpPr>
          <p:cNvPr id="186" name="Google Shape;335;p47"/>
          <p:cNvSpPr/>
          <p:nvPr/>
        </p:nvSpPr>
        <p:spPr>
          <a:xfrm>
            <a:off x="4924440" y="2608560"/>
            <a:ext cx="110484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Mapping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ASFV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Google Shape;336;p47"/>
          <p:cNvCxnSpPr/>
          <p:nvPr/>
        </p:nvCxnSpPr>
        <p:spPr>
          <a:xfrm flipH="1">
            <a:off x="5552640" y="2977920"/>
            <a:ext cx="408960" cy="24840"/>
          </a:xfrm>
          <a:prstGeom prst="straightConnector1">
            <a:avLst/>
          </a:prstGeom>
          <a:ln w="9525">
            <a:solidFill>
              <a:srgbClr val="6AA84F"/>
            </a:solidFill>
            <a:round/>
            <a:tailEnd len="med" type="triangle" w="med"/>
          </a:ln>
        </p:spPr>
      </p:cxnSp>
      <p:sp>
        <p:nvSpPr>
          <p:cNvPr id="188" name="Google Shape;337;p47"/>
          <p:cNvSpPr/>
          <p:nvPr/>
        </p:nvSpPr>
        <p:spPr>
          <a:xfrm>
            <a:off x="213120" y="401040"/>
            <a:ext cx="4912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Quy trình phân tích tin sinh học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338;p47"/>
          <p:cNvSpPr/>
          <p:nvPr/>
        </p:nvSpPr>
        <p:spPr>
          <a:xfrm>
            <a:off x="3425040" y="3772440"/>
            <a:ext cx="120276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genome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Google Shape;339;p47"/>
          <p:cNvCxnSpPr>
            <a:stCxn id="184" idx="2"/>
            <a:endCxn id="189" idx="0"/>
          </p:cNvCxnSpPr>
          <p:nvPr/>
        </p:nvCxnSpPr>
        <p:spPr>
          <a:xfrm>
            <a:off x="4026240" y="3296520"/>
            <a:ext cx="720" cy="4762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91" name="Google Shape;340;p47"/>
          <p:cNvSpPr/>
          <p:nvPr/>
        </p:nvSpPr>
        <p:spPr>
          <a:xfrm>
            <a:off x="4033800" y="3257640"/>
            <a:ext cx="1104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coverage calculation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Google Shape;341;p47"/>
          <p:cNvCxnSpPr>
            <a:stCxn id="169" idx="0"/>
            <a:endCxn id="193" idx="1"/>
          </p:cNvCxnSpPr>
          <p:nvPr/>
        </p:nvCxnSpPr>
        <p:spPr>
          <a:xfrm flipV="1">
            <a:off x="661320" y="1117440"/>
            <a:ext cx="1487880" cy="8535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93" name="Google Shape;342;p47"/>
          <p:cNvSpPr/>
          <p:nvPr/>
        </p:nvSpPr>
        <p:spPr>
          <a:xfrm>
            <a:off x="2148840" y="870120"/>
            <a:ext cx="14360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Quality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Google Shape;343;p47"/>
          <p:cNvCxnSpPr>
            <a:stCxn id="174" idx="0"/>
            <a:endCxn id="193" idx="3"/>
          </p:cNvCxnSpPr>
          <p:nvPr/>
        </p:nvCxnSpPr>
        <p:spPr>
          <a:xfrm flipH="1" flipV="1">
            <a:off x="3584880" y="1117440"/>
            <a:ext cx="2627280" cy="8535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95" name="PlaceHolder 1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616D8E-0787-4CB1-B780-D1718C5E27C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nh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giá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chấ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lượ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ng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dữ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liệu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thô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và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sau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khi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làm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sạc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9A5177-F2BA-498D-A683-C0E0CFEDACA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350CE7-0CE4-486C-82A0-7AB979F1752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99" name="Google Shape;356;p49"/>
          <p:cNvGraphicFramePr/>
          <p:nvPr/>
        </p:nvGraphicFramePr>
        <p:xfrm>
          <a:off x="260280" y="1568160"/>
          <a:ext cx="8697240" cy="1386360"/>
        </p:xfrm>
        <a:graphic>
          <a:graphicData uri="http://schemas.openxmlformats.org/drawingml/2006/table">
            <a:tbl>
              <a:tblPr/>
              <a:tblGrid>
                <a:gridCol w="869400"/>
                <a:gridCol w="869400"/>
                <a:gridCol w="869400"/>
                <a:gridCol w="869400"/>
                <a:gridCol w="869400"/>
                <a:gridCol w="869400"/>
                <a:gridCol w="869400"/>
                <a:gridCol w="869400"/>
                <a:gridCol w="869400"/>
                <a:gridCol w="869400"/>
              </a:tblGrid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Raw_Reads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Raw_Yield_Gb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Fastp_Reads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Fastp_Yield_Gb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Clean_Reads_NoPig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Pig_Host_%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Final_Retention_%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Clean_GC_%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Clean_Mean_Length_bp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ASFV1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52291296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7.84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51740332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6.91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134752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99.69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0.2577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56.0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243.2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ASFV2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63460118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61026106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6.79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209036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99.60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0.3294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56.0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211.4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0" name="Google Shape;357;p49"/>
          <p:cNvSpPr/>
          <p:nvPr/>
        </p:nvSpPr>
        <p:spPr>
          <a:xfrm>
            <a:off x="43560" y="374760"/>
            <a:ext cx="6845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Bảng tóm tắt các chỉ số đánh giá chất lượng dữ liệu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ết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ả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â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ại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ta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xo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(tì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ki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ế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ự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tồ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tại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củ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V)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92EBDD-A70C-48F6-8064-D7D261F50DC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Num" idx="5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03B8C7-BFE5-4686-8C61-BDB3AB94C43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4" name="Google Shape;369;p51"/>
          <p:cNvPicPr/>
          <p:nvPr/>
        </p:nvPicPr>
        <p:blipFill>
          <a:blip r:embed="rId1"/>
          <a:stretch/>
        </p:blipFill>
        <p:spPr>
          <a:xfrm>
            <a:off x="681840" y="38160"/>
            <a:ext cx="5784480" cy="506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Google Shape;370;p51"/>
          <p:cNvSpPr/>
          <p:nvPr/>
        </p:nvSpPr>
        <p:spPr>
          <a:xfrm>
            <a:off x="6495480" y="1023480"/>
            <a:ext cx="2681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ASFV: </a:t>
            </a:r>
            <a:r>
              <a:rPr lang="en" sz="14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African swine fever virus (Asfivirus haemorrhagiae)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Num" idx="5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154D6F-442A-49E9-85F8-8FEDA9442F3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Google Shape;376;p52"/>
          <p:cNvSpPr/>
          <p:nvPr/>
        </p:nvSpPr>
        <p:spPr>
          <a:xfrm>
            <a:off x="257400" y="394560"/>
            <a:ext cx="381276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Gen </a:t>
            </a: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khá</a:t>
            </a: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ng </a:t>
            </a: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khá</a:t>
            </a: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ng </a:t>
            </a:r>
            <a:r>
              <a:rPr lang="en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sinh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377;p52"/>
          <p:cNvSpPr/>
          <p:nvPr/>
        </p:nvSpPr>
        <p:spPr>
          <a:xfrm>
            <a:off x="685800" y="1666800"/>
            <a:ext cx="777240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0" u="none" strike="noStrike">
                <a:solidFill>
                  <a:srgbClr val="1155CC"/>
                </a:solidFill>
                <a:effectLst/>
                <a:uFillTx/>
                <a:latin typeface="Arial"/>
                <a:ea typeface="Arial"/>
              </a:rPr>
              <a:t>Không tìm thấy gen kháng kháng sinh nào trong mẫu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độ phủ (coverage) genome của loài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AC6CD2-0544-4AFD-ABD9-322A6323A59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Num" idx="5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E47D90-7D73-4131-BAEF-1763CCCF525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2" name="Google Shape;389;p54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Num" idx="5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0BA775-DA73-48E6-8EDF-82CBCBA1F3C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4" name="Google Shape;395;p55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98;p 1"/>
          <p:cNvSpPr/>
          <p:nvPr/>
        </p:nvSpPr>
        <p:spPr>
          <a:xfrm>
            <a:off x="583200" y="977760"/>
            <a:ext cx="79768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Ca lâm sàng 3: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0B5394"/>
                </a:solidFill>
                <a:effectLst/>
                <a:uFillTx/>
                <a:latin typeface="Arial"/>
                <a:ea typeface="Arial"/>
              </a:rPr>
              <a:t>Phân tích nhắm đích virus JEV từ dữ liệu giải shotgun metagenomics từ mẫu não heo bệnh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sldNum" idx="5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B15F43-4277-48F9-A286-F02B5C56C65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Google Shape;400;p56"/>
          <p:cNvSpPr/>
          <p:nvPr/>
        </p:nvSpPr>
        <p:spPr>
          <a:xfrm>
            <a:off x="1226160" y="2568600"/>
            <a:ext cx="631044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 mẫu JEV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Num" idx="5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3B332A-D210-4C17-83A6-CD2ABE3FE67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Google Shape;407;p57"/>
          <p:cNvSpPr/>
          <p:nvPr/>
        </p:nvSpPr>
        <p:spPr>
          <a:xfrm>
            <a:off x="270720" y="215640"/>
            <a:ext cx="3812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Thông tin mẫu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408;p57"/>
          <p:cNvSpPr/>
          <p:nvPr/>
        </p:nvSpPr>
        <p:spPr>
          <a:xfrm>
            <a:off x="664560" y="1126440"/>
            <a:ext cx="781452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419040">
              <a:lnSpc>
                <a:spcPct val="100000"/>
              </a:lnSpc>
              <a:buClr>
                <a:srgbClr val="595959"/>
              </a:buClr>
              <a:buFont typeface="Arial"/>
              <a:buChar char="-"/>
            </a:pP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ẫ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ễ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á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ế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ổ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à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đ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ư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ả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ì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ự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 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" sz="30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413;p58"/>
          <p:cNvSpPr/>
          <p:nvPr/>
        </p:nvSpPr>
        <p:spPr>
          <a:xfrm>
            <a:off x="429120" y="1981080"/>
            <a:ext cx="639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raw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414;p58"/>
          <p:cNvSpPr/>
          <p:nvPr/>
        </p:nvSpPr>
        <p:spPr>
          <a:xfrm>
            <a:off x="3564720" y="1887120"/>
            <a:ext cx="1202760" cy="699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Unmapped human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Google Shape;415;p58"/>
          <p:cNvCxnSpPr>
            <a:stCxn id="221" idx="3"/>
            <a:endCxn id="224" idx="1"/>
          </p:cNvCxnSpPr>
          <p:nvPr/>
        </p:nvCxnSpPr>
        <p:spPr>
          <a:xfrm>
            <a:off x="1068840" y="2228400"/>
            <a:ext cx="858240" cy="1296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25" name="Google Shape;417;p58"/>
          <p:cNvSpPr/>
          <p:nvPr/>
        </p:nvSpPr>
        <p:spPr>
          <a:xfrm>
            <a:off x="1069560" y="1689480"/>
            <a:ext cx="1543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trimming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bad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418;p58"/>
          <p:cNvSpPr/>
          <p:nvPr/>
        </p:nvSpPr>
        <p:spPr>
          <a:xfrm>
            <a:off x="5747400" y="198108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Unmapp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ed pig </a:t>
            </a: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Google Shape;419;p58"/>
          <p:cNvCxnSpPr>
            <a:stCxn id="222" idx="3"/>
            <a:endCxn id="226" idx="1"/>
          </p:cNvCxnSpPr>
          <p:nvPr/>
        </p:nvCxnSpPr>
        <p:spPr>
          <a:xfrm flipV="1">
            <a:off x="4767480" y="2228400"/>
            <a:ext cx="980280" cy="86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28" name="Google Shape;420;p58"/>
          <p:cNvSpPr/>
          <p:nvPr/>
        </p:nvSpPr>
        <p:spPr>
          <a:xfrm>
            <a:off x="4762080" y="1600200"/>
            <a:ext cx="1104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pig 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421;p58"/>
          <p:cNvSpPr/>
          <p:nvPr/>
        </p:nvSpPr>
        <p:spPr>
          <a:xfrm>
            <a:off x="6905160" y="2701800"/>
            <a:ext cx="11048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Is JEV present?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Google Shape;422;p58"/>
          <p:cNvCxnSpPr>
            <a:stCxn id="226" idx="2"/>
            <a:endCxn id="229" idx="0"/>
          </p:cNvCxnSpPr>
          <p:nvPr/>
        </p:nvCxnSpPr>
        <p:spPr>
          <a:xfrm>
            <a:off x="6300000" y="2475360"/>
            <a:ext cx="1158120" cy="2268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31" name="Google Shape;423;p58"/>
          <p:cNvSpPr/>
          <p:nvPr/>
        </p:nvSpPr>
        <p:spPr>
          <a:xfrm>
            <a:off x="7033320" y="2249640"/>
            <a:ext cx="2113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Taxonomic classification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416;p58"/>
          <p:cNvSpPr/>
          <p:nvPr/>
        </p:nvSpPr>
        <p:spPr>
          <a:xfrm>
            <a:off x="1926720" y="1836000"/>
            <a:ext cx="874080" cy="81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quality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Google Shape;424;p58"/>
          <p:cNvCxnSpPr>
            <a:stCxn id="224" idx="3"/>
            <a:endCxn id="222" idx="1"/>
          </p:cNvCxnSpPr>
          <p:nvPr/>
        </p:nvCxnSpPr>
        <p:spPr>
          <a:xfrm flipV="1">
            <a:off x="2800800" y="2236680"/>
            <a:ext cx="764280" cy="4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33" name="Google Shape;425;p58"/>
          <p:cNvSpPr/>
          <p:nvPr/>
        </p:nvSpPr>
        <p:spPr>
          <a:xfrm>
            <a:off x="2792520" y="1489320"/>
            <a:ext cx="1157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Mapping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human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4" name="Google Shape;426;p58"/>
          <p:cNvCxnSpPr>
            <a:stCxn id="229" idx="1"/>
            <a:endCxn id="235" idx="3"/>
          </p:cNvCxnSpPr>
          <p:nvPr/>
        </p:nvCxnSpPr>
        <p:spPr>
          <a:xfrm flipH="1">
            <a:off x="6689160" y="2949120"/>
            <a:ext cx="216360" cy="22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35" name="Google Shape;427;p58"/>
          <p:cNvSpPr/>
          <p:nvPr/>
        </p:nvSpPr>
        <p:spPr>
          <a:xfrm>
            <a:off x="6049440" y="2724120"/>
            <a:ext cx="63972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6AA8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yes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428;p58"/>
          <p:cNvSpPr/>
          <p:nvPr/>
        </p:nvSpPr>
        <p:spPr>
          <a:xfrm>
            <a:off x="3216600" y="2812680"/>
            <a:ext cx="179568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Mapped JEV data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Google Shape;429;p58"/>
          <p:cNvCxnSpPr>
            <a:stCxn id="226" idx="2"/>
            <a:endCxn id="236" idx="0"/>
          </p:cNvCxnSpPr>
          <p:nvPr/>
        </p:nvCxnSpPr>
        <p:spPr>
          <a:xfrm flipH="1">
            <a:off x="4114440" y="2475360"/>
            <a:ext cx="2185920" cy="337680"/>
          </a:xfrm>
          <a:prstGeom prst="straightConnector1">
            <a:avLst/>
          </a:prstGeom>
          <a:ln w="9525">
            <a:solidFill>
              <a:srgbClr val="6AA84F"/>
            </a:solidFill>
            <a:round/>
            <a:tailEnd len="med" type="triangle" w="med"/>
          </a:ln>
        </p:spPr>
      </p:cxnSp>
      <p:sp>
        <p:nvSpPr>
          <p:cNvPr id="238" name="Google Shape;430;p58"/>
          <p:cNvSpPr/>
          <p:nvPr/>
        </p:nvSpPr>
        <p:spPr>
          <a:xfrm>
            <a:off x="5012640" y="2619000"/>
            <a:ext cx="110484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Mapping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JEV 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" name="Google Shape;431;p58"/>
          <p:cNvCxnSpPr/>
          <p:nvPr/>
        </p:nvCxnSpPr>
        <p:spPr>
          <a:xfrm flipH="1">
            <a:off x="5640840" y="2988360"/>
            <a:ext cx="408960" cy="24840"/>
          </a:xfrm>
          <a:prstGeom prst="straightConnector1">
            <a:avLst/>
          </a:prstGeom>
          <a:ln w="9525">
            <a:solidFill>
              <a:srgbClr val="6AA84F"/>
            </a:solidFill>
            <a:round/>
            <a:tailEnd len="med" type="triangle" w="med"/>
          </a:ln>
        </p:spPr>
      </p:cxnSp>
      <p:sp>
        <p:nvSpPr>
          <p:cNvPr id="240" name="Google Shape;432;p58"/>
          <p:cNvSpPr/>
          <p:nvPr/>
        </p:nvSpPr>
        <p:spPr>
          <a:xfrm>
            <a:off x="249120" y="437040"/>
            <a:ext cx="4912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Quy trình phân tích tin sinh học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433;p58"/>
          <p:cNvSpPr/>
          <p:nvPr/>
        </p:nvSpPr>
        <p:spPr>
          <a:xfrm>
            <a:off x="3513240" y="3782880"/>
            <a:ext cx="120276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genome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Google Shape;434;p58"/>
          <p:cNvCxnSpPr>
            <a:endCxn id="241" idx="0"/>
          </p:cNvCxnSpPr>
          <p:nvPr/>
        </p:nvCxnSpPr>
        <p:spPr>
          <a:xfrm>
            <a:off x="4114440" y="3306960"/>
            <a:ext cx="720" cy="4762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43" name="Google Shape;435;p58"/>
          <p:cNvSpPr/>
          <p:nvPr/>
        </p:nvSpPr>
        <p:spPr>
          <a:xfrm>
            <a:off x="4122000" y="3268080"/>
            <a:ext cx="11048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coverage calculation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Google Shape;436;p58"/>
          <p:cNvCxnSpPr>
            <a:stCxn id="221" idx="0"/>
            <a:endCxn id="245" idx="1"/>
          </p:cNvCxnSpPr>
          <p:nvPr/>
        </p:nvCxnSpPr>
        <p:spPr>
          <a:xfrm flipV="1">
            <a:off x="749160" y="1153440"/>
            <a:ext cx="1751760" cy="8280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45" name="Google Shape;437;p58"/>
          <p:cNvSpPr/>
          <p:nvPr/>
        </p:nvSpPr>
        <p:spPr>
          <a:xfrm>
            <a:off x="2500560" y="906120"/>
            <a:ext cx="1436040" cy="4942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Quality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Google Shape;438;p58"/>
          <p:cNvCxnSpPr>
            <a:stCxn id="226" idx="0"/>
            <a:endCxn id="245" idx="3"/>
          </p:cNvCxnSpPr>
          <p:nvPr/>
        </p:nvCxnSpPr>
        <p:spPr>
          <a:xfrm flipH="1" flipV="1">
            <a:off x="3936600" y="1153440"/>
            <a:ext cx="2363760" cy="8280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247" name="PlaceHolder 1"/>
          <p:cNvSpPr>
            <a:spLocks noGrp="1"/>
          </p:cNvSpPr>
          <p:nvPr>
            <p:ph type="sldNum" idx="6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5F6840-0E23-4F16-8054-6E8B9751D0C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chất lượng dữ liệu thô và sau khi làm sạch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ldNum" idx="6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588A0A-1113-4B64-B3F9-7F90E31E4A8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Num" idx="6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92449D-D05F-480B-A693-B80A4A0E180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51" name="Google Shape;451;p60"/>
          <p:cNvGraphicFramePr/>
          <p:nvPr/>
        </p:nvGraphicFramePr>
        <p:xfrm>
          <a:off x="274320" y="1626120"/>
          <a:ext cx="8746560" cy="1737000"/>
        </p:xfrm>
        <a:graphic>
          <a:graphicData uri="http://schemas.openxmlformats.org/drawingml/2006/table">
            <a:tbl>
              <a:tblPr/>
              <a:tblGrid>
                <a:gridCol w="874440"/>
                <a:gridCol w="964080"/>
                <a:gridCol w="785160"/>
                <a:gridCol w="964080"/>
                <a:gridCol w="785160"/>
                <a:gridCol w="874440"/>
                <a:gridCol w="874440"/>
                <a:gridCol w="874440"/>
                <a:gridCol w="874440"/>
                <a:gridCol w="874440"/>
              </a:tblGrid>
              <a:tr h="86832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Raw_Reads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Raw_Yield_Gb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Fastp_Reads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Fastp_Yield_Gb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Clean_Reads_NoPig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Pig_Host_%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Final_Retention_%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Clean_GC_%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Clean_Mean_Length_bp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6832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JEV2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72225024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10.83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70740298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8.89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1359034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85.29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1.8817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52.0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274.2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2" name="Google Shape;452;p60"/>
          <p:cNvSpPr/>
          <p:nvPr/>
        </p:nvSpPr>
        <p:spPr>
          <a:xfrm>
            <a:off x="43560" y="374760"/>
            <a:ext cx="6845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Bảng tóm tắt các chỉ số đánh giá chất lượng dữ liệu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Kết quả phân loại taxon (tìm kiếm sự tồn tại của JEV)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6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435813-222E-447D-A2AA-9517AAD781E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Num" idx="6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06919B-C271-455A-ABAC-A97BDEB42ED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Google Shape;464;p62"/>
          <p:cNvSpPr/>
          <p:nvPr/>
        </p:nvSpPr>
        <p:spPr>
          <a:xfrm>
            <a:off x="6532920" y="943920"/>
            <a:ext cx="268128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JEV: </a:t>
            </a:r>
            <a:r>
              <a:rPr lang="en" sz="18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Japanese encephalitis virus (Orthoflavivirus japonicum)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465;p62"/>
          <p:cNvPicPr/>
          <p:nvPr/>
        </p:nvPicPr>
        <p:blipFill>
          <a:blip r:embed="rId1"/>
          <a:stretch/>
        </p:blipFill>
        <p:spPr>
          <a:xfrm>
            <a:off x="754920" y="119160"/>
            <a:ext cx="5523480" cy="483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Num" idx="6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C37808A-AD56-4FE5-B03F-05F8E7D2436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59" name="Google Shape;471;p63"/>
          <p:cNvGraphicFramePr/>
          <p:nvPr/>
        </p:nvGraphicFramePr>
        <p:xfrm>
          <a:off x="1324080" y="2032560"/>
          <a:ext cx="6180480" cy="1050840"/>
        </p:xfrm>
        <a:graphic>
          <a:graphicData uri="http://schemas.openxmlformats.org/drawingml/2006/table">
            <a:tbl>
              <a:tblPr/>
              <a:tblGrid>
                <a:gridCol w="1517400"/>
                <a:gridCol w="1487160"/>
                <a:gridCol w="1006560"/>
                <a:gridCol w="2169000"/>
              </a:tblGrid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ARO Term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% Identity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% Length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Resistance Mechanism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60"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APH(3')-Ia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98.8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91.88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antibiotic inactivation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0" name="Google Shape;472;p63"/>
          <p:cNvSpPr/>
          <p:nvPr/>
        </p:nvSpPr>
        <p:spPr>
          <a:xfrm>
            <a:off x="392760" y="407880"/>
            <a:ext cx="38127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Gen kháng kháng sinh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Đánh giá độ phủ (coverage) genome của loài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6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7C871D-7A66-45E7-B82E-83D48F0BF0B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Num" idx="6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BB41E7-70CA-47C7-A735-26ABE56C465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4" name="Google Shape;484;p65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"/>
          <p:cNvPicPr/>
          <p:nvPr/>
        </p:nvPicPr>
        <p:blipFill>
          <a:blip r:embed="rId1"/>
          <a:stretch/>
        </p:blipFill>
        <p:spPr>
          <a:xfrm>
            <a:off x="49680" y="457200"/>
            <a:ext cx="8980560" cy="38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2026-09-04T06:49:08Z</dcterms:modified>
  <cp:revision>11</cp:revision>
  <dc:subject/>
  <dc:title/>
</cp:coreProperties>
</file>